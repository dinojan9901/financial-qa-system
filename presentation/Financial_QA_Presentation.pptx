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C8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1" i="0">
                <a:solidFill>
                  <a:srgbClr val="C89700"/>
                </a:solidFill>
                <a:latin typeface="Calibri"/>
              </a:rPr>
              <a:t>EC7203  •  ADVANCED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AI-Powered Financial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124712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Question &amp; Answer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0" i="1">
                <a:solidFill>
                  <a:srgbClr val="C89700"/>
                </a:solidFill>
                <a:latin typeface="Calibri"/>
              </a:rPr>
              <a:t>Using Retrieval-Augmented Generation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NLP   •   Large Language Models   •   Prompt Engineering   •   Word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Final Group Project Report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2200" b="1" i="0">
                <a:solidFill>
                  <a:srgbClr val="1A3C6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A3C6E"/>
                </a:solidFill>
                <a:latin typeface="Calibri"/>
              </a:rPr>
              <a:t>•  </a:t>
            </a:r>
            <a:r>
              <a:rPr sz="1500">
                <a:solidFill>
                  <a:srgbClr val="1F1F1F"/>
                </a:solidFill>
                <a:latin typeface="Calibri"/>
              </a:rPr>
              <a:t>Financial documents (10-K, earnings reports, SEC filings) can exceed 300 pages.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A3C6E"/>
                </a:solidFill>
                <a:latin typeface="Calibri"/>
              </a:rPr>
              <a:t>•  </a:t>
            </a:r>
            <a:r>
              <a:rPr sz="1500">
                <a:solidFill>
                  <a:srgbClr val="1F1F1F"/>
                </a:solidFill>
                <a:latin typeface="Calibri"/>
              </a:rPr>
              <a:t>Analysts manually search dense documents for specific figures — slow and error-prone.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A3C6E"/>
                </a:solidFill>
                <a:latin typeface="Calibri"/>
              </a:rPr>
              <a:t>•  </a:t>
            </a:r>
            <a:r>
              <a:rPr sz="1500">
                <a:solidFill>
                  <a:srgbClr val="1F1F1F"/>
                </a:solidFill>
                <a:latin typeface="Calibri"/>
              </a:rPr>
              <a:t>Keyword search misses paraphrased content and synonyms.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A3C6E"/>
                </a:solidFill>
                <a:latin typeface="Calibri"/>
              </a:rPr>
              <a:t>•  </a:t>
            </a:r>
            <a:r>
              <a:rPr sz="1500">
                <a:solidFill>
                  <a:srgbClr val="1F1F1F"/>
                </a:solidFill>
                <a:latin typeface="Calibri"/>
              </a:rPr>
              <a:t>Raw LLMs without grounding hallucinate fabricated financial figures.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188720"/>
            <a:ext cx="5029200" cy="4206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1" i="0">
                <a:solidFill>
                  <a:srgbClr val="1A3C6E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502920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6400" b="1" i="0">
                <a:solidFill>
                  <a:srgbClr val="1A3C6E"/>
                </a:solidFill>
                <a:latin typeface="Calibri"/>
              </a:rPr>
              <a:t>300+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97480"/>
            <a:ext cx="502920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0" i="1">
                <a:solidFill>
                  <a:srgbClr val="1F1F1F"/>
                </a:solidFill>
                <a:latin typeface="Calibri"/>
              </a:rPr>
              <a:t>pages in a typical 10-K 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200400"/>
            <a:ext cx="5029200" cy="6400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4400" b="1" i="0">
                <a:solidFill>
                  <a:srgbClr val="1A3C6E"/>
                </a:solidFill>
                <a:latin typeface="Calibri"/>
              </a:rPr>
              <a:t>$5–15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502920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0" i="1">
                <a:solidFill>
                  <a:srgbClr val="1F1F1F"/>
                </a:solidFill>
                <a:latin typeface="Calibri"/>
              </a:rPr>
              <a:t>cost per question if sent to GPT-4 directly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34840"/>
            <a:ext cx="50292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800" b="1" i="0">
                <a:solidFill>
                  <a:srgbClr val="C89700"/>
                </a:solidFill>
                <a:latin typeface="Calibri"/>
              </a:rPr>
              <a:t>Banking &amp;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892040"/>
            <a:ext cx="502920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200" b="0" i="1">
                <a:solidFill>
                  <a:srgbClr val="1F1F1F"/>
                </a:solidFill>
                <a:latin typeface="Calibri"/>
              </a:rPr>
              <a:t>course-listed industry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Proposed Solution: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600" b="0" i="1">
                <a:solidFill>
                  <a:srgbClr val="555555"/>
                </a:solidFill>
                <a:latin typeface="Calibri"/>
              </a:rPr>
              <a:t>Instead of asking the LLM everything, we let it look up answers in YOUR document.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3657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365760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56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3657600" cy="54864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600" b="1" i="0">
                <a:solidFill>
                  <a:srgbClr val="2E7D32"/>
                </a:solidFill>
                <a:latin typeface="Calibri"/>
              </a:rPr>
              <a:t>Accurate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657600" cy="12801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0">
                <a:solidFill>
                  <a:srgbClr val="1F1F1F"/>
                </a:solidFill>
                <a:latin typeface="Calibri"/>
              </a:rPr>
              <a:t>Answers come only from the
actual document content.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36576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1" i="1">
                <a:solidFill>
                  <a:srgbClr val="2E7D32"/>
                </a:solidFill>
                <a:latin typeface="Calibri"/>
              </a:rPr>
              <a:t>No hallucinations.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645920"/>
            <a:ext cx="3657600" cy="36576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65760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5600" b="1" i="0">
                <a:solidFill>
                  <a:srgbClr val="1A3C6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834640"/>
            <a:ext cx="3657600" cy="54864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600" b="1" i="0">
                <a:solidFill>
                  <a:srgbClr val="1A3C6E"/>
                </a:solidFill>
                <a:latin typeface="Calibri"/>
              </a:rPr>
              <a:t>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474720"/>
            <a:ext cx="3657600" cy="12801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0">
                <a:solidFill>
                  <a:srgbClr val="1F1F1F"/>
                </a:solidFill>
                <a:latin typeface="Calibri"/>
              </a:rPr>
              <a:t>Every answer includes
the page number it came from.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663440"/>
            <a:ext cx="36576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1" i="1">
                <a:solidFill>
                  <a:srgbClr val="1A3C6E"/>
                </a:solidFill>
                <a:latin typeface="Calibri"/>
              </a:rPr>
              <a:t>Verifiable claims.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657600" cy="365760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65760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5600" b="1" i="0">
                <a:solidFill>
                  <a:srgbClr val="EF6C00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834640"/>
            <a:ext cx="3657600" cy="54864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600" b="1" i="0">
                <a:solidFill>
                  <a:srgbClr val="EF6C00"/>
                </a:solidFill>
                <a:latin typeface="Calibri"/>
              </a:rPr>
              <a:t>Efficient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474720"/>
            <a:ext cx="3657600" cy="12801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0">
                <a:solidFill>
                  <a:srgbClr val="1F1F1F"/>
                </a:solidFill>
                <a:latin typeface="Calibri"/>
              </a:rPr>
              <a:t>Only relevant excerpts are
sent to the LLM.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663440"/>
            <a:ext cx="36576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1" i="1">
                <a:solidFill>
                  <a:srgbClr val="EF6C00"/>
                </a:solidFill>
                <a:latin typeface="Calibri"/>
              </a:rPr>
              <a:t>10× cheaper than full-doc.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AI Techniques (Course Requirement: Min 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3794760" cy="493776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40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2788920" cy="6400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700" b="1" i="0">
                <a:solidFill>
                  <a:srgbClr val="1A3C6E"/>
                </a:solidFill>
                <a:latin typeface="Calibri"/>
              </a:rPr>
              <a:t>Natural Language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Text preprocessing &amp; cleaning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Token-counted chunking (800 tok)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Word2Vec  (baseline)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TF-IDF  (baseline)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Sentence-Transformers  (proposed)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005840"/>
            <a:ext cx="3794760" cy="49377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1188720"/>
            <a:ext cx="640080" cy="640080"/>
          </a:xfrm>
          <a:prstGeom prst="ellipse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188720"/>
            <a:ext cx="640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234440"/>
            <a:ext cx="2788920" cy="6400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700" b="1" i="0">
                <a:solidFill>
                  <a:srgbClr val="EF6C00"/>
                </a:solidFill>
                <a:latin typeface="Calibri"/>
              </a:rPr>
              <a:t>Large Language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031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Transformer architecture (GPT-4o-mini)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OpenAI Chat Completions API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Temperature = 0.1 (factual)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Grounded answer generation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Free local fallback mode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05840"/>
            <a:ext cx="3794760" cy="4937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20" y="1188720"/>
            <a:ext cx="640080" cy="640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188720"/>
            <a:ext cx="640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234440"/>
            <a:ext cx="2788920" cy="6400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700" b="1" i="0">
                <a:solidFill>
                  <a:srgbClr val="2E7D32"/>
                </a:solidFill>
                <a:latin typeface="Calibri"/>
              </a:rPr>
              <a:t>Prompt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1031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Systematic 7-rule system prompt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Chain-of-Thought (think step-by-step)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Few-shot in-context learning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Page citation enforcement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1A3C6E"/>
                </a:solidFill>
                <a:latin typeface="Calibri"/>
              </a:rPr>
              <a:t>•  </a:t>
            </a:r>
            <a:r>
              <a:rPr sz="1300">
                <a:solidFill>
                  <a:srgbClr val="1F1F1F"/>
                </a:solidFill>
                <a:latin typeface="Calibri"/>
              </a:rPr>
              <a:t>Hallucination prevention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Architecture: Two-Phase RAG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1A3C6E"/>
                </a:solidFill>
                <a:latin typeface="Calibri"/>
              </a:rPr>
              <a:t>PHASE 1 — INDEXING  (runs once per document)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011680" cy="914400"/>
          </a:xfrm>
          <a:prstGeom prst="roundRect">
            <a:avLst/>
          </a:prstGeom>
          <a:solidFill>
            <a:srgbClr val="FFF8E1"/>
          </a:solidFill>
          <a:ln w="9525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EF6C00"/>
                </a:solidFill>
                <a:latin typeface="Calibri"/>
              </a:rPr>
              <a:t>PDF
Upload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17320"/>
            <a:ext cx="2011680" cy="9144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41732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1A3C6E"/>
                </a:solidFill>
                <a:latin typeface="Calibri"/>
              </a:rPr>
              <a:t>Text
Extraction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417320"/>
            <a:ext cx="2011680" cy="9144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41732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1A3C6E"/>
                </a:solidFill>
                <a:latin typeface="Calibri"/>
              </a:rPr>
              <a:t>Chunking
(800 tok)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417320"/>
            <a:ext cx="2011680" cy="9144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41732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1A3C6E"/>
                </a:solidFill>
                <a:latin typeface="Calibri"/>
              </a:rPr>
              <a:t>Embedding
(MiniLM)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1417320"/>
            <a:ext cx="2011680" cy="9144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41732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Calibri"/>
              </a:rPr>
              <a:t>ChromaDB
Store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68880" y="187452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54880" y="187452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0" y="187452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26880" y="187452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310896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1A3C6E"/>
                </a:solidFill>
                <a:latin typeface="Calibri"/>
              </a:rPr>
              <a:t>PHASE 2 — QUERYING  (runs on every user question)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66160"/>
            <a:ext cx="2011680" cy="914400"/>
          </a:xfrm>
          <a:prstGeom prst="roundRect">
            <a:avLst/>
          </a:prstGeom>
          <a:solidFill>
            <a:srgbClr val="FFF8E1"/>
          </a:solidFill>
          <a:ln w="9525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56616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EF6C00"/>
                </a:solidFill>
                <a:latin typeface="Calibri"/>
              </a:rPr>
              <a:t>User
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566160"/>
            <a:ext cx="2011680" cy="9144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56616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1A3C6E"/>
                </a:solidFill>
                <a:latin typeface="Calibri"/>
              </a:rPr>
              <a:t>Query
Embedding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0" y="3566160"/>
            <a:ext cx="2011680" cy="9144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356616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1A3C6E"/>
                </a:solidFill>
                <a:latin typeface="Calibri"/>
              </a:rPr>
              <a:t>Cosine
Search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566160"/>
            <a:ext cx="2011680" cy="9144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56616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1A3C6E"/>
                </a:solidFill>
                <a:latin typeface="Calibri"/>
              </a:rPr>
              <a:t>Top-K
Chunks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3566160"/>
            <a:ext cx="2011680" cy="9144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3566160"/>
            <a:ext cx="2011680" cy="914400"/>
          </a:xfrm>
          <a:prstGeom prst="rect">
            <a:avLst/>
          </a:prstGeom>
          <a:noFill/>
        </p:spPr>
        <p:txBody>
          <a:bodyPr wrap="square" lIns="76200" rIns="76200" anchor="ctr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Calibri"/>
              </a:rPr>
              <a:t>LLM
Answer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468880" y="402336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754880" y="402336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040880" y="402336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326880" y="4023360"/>
            <a:ext cx="274320" cy="0"/>
          </a:xfrm>
          <a:prstGeom prst="bentConnector3">
            <a:avLst/>
          </a:prstGeom>
          <a:ln w="25400">
            <a:solidFill>
              <a:srgbClr val="1A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607040" y="2331720"/>
            <a:ext cx="0" cy="548640"/>
          </a:xfrm>
          <a:prstGeom prst="bentConnector3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6035040" y="2880360"/>
            <a:ext cx="4572000" cy="0"/>
          </a:xfrm>
          <a:prstGeom prst="bentConnector3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35040" y="2880360"/>
            <a:ext cx="0" cy="685800"/>
          </a:xfrm>
          <a:prstGeom prst="bentConnector3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00800" y="2788920"/>
            <a:ext cx="2743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1">
                <a:solidFill>
                  <a:srgbClr val="2E7D32"/>
                </a:solidFill>
                <a:latin typeface="Calibri"/>
              </a:rPr>
              <a:t>vector store feeds search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29200"/>
            <a:ext cx="11247120" cy="128016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1">
                <a:solidFill>
                  <a:srgbClr val="1F1F1F"/>
                </a:solidFill>
                <a:latin typeface="Calibri"/>
              </a:rPr>
              <a:t>Result: when a user asks a question, the system retrieves the most relevant passages from the indexed document and generates a grounded answer with page citations — not from the LLM's training memory.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Implementation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1A3C6E"/>
                </a:solidFill>
                <a:latin typeface="Calibri"/>
              </a:rPr>
              <a:t>Layered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760720" cy="640080"/>
          </a:xfrm>
          <a:prstGeom prst="roundRect">
            <a:avLst/>
          </a:prstGeom>
          <a:solidFill>
            <a:srgbClr val="FFF8E1"/>
          </a:solidFill>
          <a:ln w="9525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37744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EF6C00"/>
                </a:solidFill>
                <a:latin typeface="Calibri"/>
              </a:rPr>
              <a:t>Web UI /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664208"/>
            <a:ext cx="3200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1">
                <a:solidFill>
                  <a:srgbClr val="1F1F1F"/>
                </a:solidFill>
                <a:latin typeface="Calibri"/>
              </a:rPr>
              <a:t>Streamlit  •  FastAPI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5760720" cy="64008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237744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395728"/>
            <a:ext cx="3200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1">
                <a:solidFill>
                  <a:srgbClr val="1F1F1F"/>
                </a:solidFill>
                <a:latin typeface="Calibri"/>
              </a:rPr>
              <a:t>GPT-4o-mini  •  LangChain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5760720" cy="64008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127248"/>
            <a:ext cx="237744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1A3C6E"/>
                </a:solidFill>
                <a:latin typeface="Calibri"/>
              </a:rPr>
              <a:t>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127248"/>
            <a:ext cx="3200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1">
                <a:solidFill>
                  <a:srgbClr val="1F1F1F"/>
                </a:solidFill>
                <a:latin typeface="Calibri"/>
              </a:rPr>
              <a:t>ChromaDB  •  Cosine ANN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40"/>
            <a:ext cx="5760720" cy="64008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858768"/>
            <a:ext cx="237744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1A3C6E"/>
                </a:solidFill>
                <a:latin typeface="Calibri"/>
              </a:rPr>
              <a:t>Embedding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858768"/>
            <a:ext cx="3200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1">
                <a:solidFill>
                  <a:srgbClr val="1F1F1F"/>
                </a:solidFill>
                <a:latin typeface="Calibri"/>
              </a:rPr>
              <a:t>MiniLM-L6-v2  •  OpenAI emb.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57607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590288"/>
            <a:ext cx="237744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400" b="1" i="0">
                <a:solidFill>
                  <a:srgbClr val="555555"/>
                </a:solidFill>
                <a:latin typeface="Calibri"/>
              </a:rPr>
              <a:t>NLP Preprocessing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590288"/>
            <a:ext cx="3200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1">
                <a:solidFill>
                  <a:srgbClr val="1F1F1F"/>
                </a:solidFill>
                <a:latin typeface="Calibri"/>
              </a:rPr>
              <a:t>pdfplumber  •  tiktoken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005840"/>
            <a:ext cx="48463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1A3C6E"/>
                </a:solidFill>
                <a:latin typeface="Calibri"/>
              </a:rPr>
              <a:t>By the Numbers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1554480"/>
            <a:ext cx="48463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1645920"/>
            <a:ext cx="109728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1A3C6E"/>
                </a:solidFill>
                <a:latin typeface="Calibri"/>
              </a:rPr>
              <a:t>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1719072"/>
            <a:ext cx="35661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Python source files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286000"/>
            <a:ext cx="48463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377440"/>
            <a:ext cx="109728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1A3C6E"/>
                </a:solidFill>
                <a:latin typeface="Calibri"/>
              </a:rPr>
              <a:t>~2.4K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2450592"/>
            <a:ext cx="35661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Lines of code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3017520"/>
            <a:ext cx="48463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3108960"/>
            <a:ext cx="109728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1A3C6E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182112"/>
            <a:ext cx="35661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AI modules (ingest, retrieve, generate, eval, api)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749040"/>
            <a:ext cx="48463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3840480"/>
            <a:ext cx="109728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1A3C6E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913632"/>
            <a:ext cx="35661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REST API endpoints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4480560"/>
            <a:ext cx="48463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572000"/>
            <a:ext cx="109728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1A3C6E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4645152"/>
            <a:ext cx="35661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Evaluation experiments + golden test cases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5212080"/>
            <a:ext cx="4846320" cy="640080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0" y="5303520"/>
            <a:ext cx="109728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1A3C6E"/>
                </a:solidFill>
                <a:latin typeface="Calibri"/>
              </a:rPr>
              <a:t>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5376672"/>
            <a:ext cx="35661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Pages: final LaTeX 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Calibri"/>
              </a:rPr>
              <a:t>LIVE 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0"/>
            <a:ext cx="2103120" cy="73152"/>
          </a:xfrm>
          <a:prstGeom prst="rect">
            <a:avLst/>
          </a:prstGeom>
          <a:solidFill>
            <a:srgbClr val="C8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0" i="1">
                <a:solidFill>
                  <a:srgbClr val="C89700"/>
                </a:solidFill>
                <a:latin typeface="Calibri"/>
              </a:rPr>
              <a:t>Financial Document Q&amp;A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54864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C89700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840480"/>
            <a:ext cx="914400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Upload a real 10-K filing (Apple FY 2023 from SEC EDGAR)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54864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C89700"/>
                </a:solidFill>
                <a:latin typeface="Calibri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297680"/>
            <a:ext cx="914400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Watch the indexing pipeline: extract → chunk → embed →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754880"/>
            <a:ext cx="54864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C89700"/>
                </a:solidFill>
                <a:latin typeface="Calibri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754880"/>
            <a:ext cx="914400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Ask: "What was the total net revenue in fiscal 2023?"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212080"/>
            <a:ext cx="54864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C89700"/>
                </a:solidFill>
                <a:latin typeface="Calibri"/>
              </a:rP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212080"/>
            <a:ext cx="914400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View the grounded answer with page citation and relevance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669280"/>
            <a:ext cx="54864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800" b="1" i="0">
                <a:solidFill>
                  <a:srgbClr val="C89700"/>
                </a:solidFill>
                <a:latin typeface="Calibri"/>
              </a:rPr>
              <a:t>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669280"/>
            <a:ext cx="9144000" cy="4114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Ask: "What are the main risk factors?"  (multi-part answer)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1">
                <a:solidFill>
                  <a:srgbClr val="C89700"/>
                </a:solidFill>
                <a:latin typeface="Calibri"/>
              </a:rPr>
              <a:t>Switch to browser: http://localhost:8501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Experiment 1: Embedding Baseline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  <a:latin typeface="Calibri"/>
              </a:rPr>
              <a:t>Compared three methods on 5 financial queries — which retrieves the right passage?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6400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12801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P₃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MRR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Latency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</a:rPr>
                        <a:t>TF-IDF (sparse, n-gram)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</a:rPr>
                        <a:t>0.620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</a:rPr>
                        <a:t>0.963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</a:rPr>
                        <a:t>10.09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</a:rPr>
                        <a:t>Word2Vec (skip-gram, d=100)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</a:rPr>
                        <a:t>0.447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</a:rP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</a:rPr>
                        <a:t>5.57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E7D32"/>
                          </a:solidFill>
                        </a:rPr>
                        <a:t>MiniLM-L6-v2  ← proposed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</a:rPr>
                        <a:t>0.580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</a:rPr>
                        <a:t>177.19 ms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554480"/>
            <a:ext cx="4206240" cy="4297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1" i="0">
                <a:solidFill>
                  <a:srgbClr val="2E7D32"/>
                </a:solidFill>
                <a:latin typeface="Calibri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194560"/>
            <a:ext cx="4206240" cy="12801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8000" b="1" i="0">
                <a:solidFill>
                  <a:srgbClr val="2E7D32"/>
                </a:solidFill>
                <a:latin typeface="Calibri"/>
              </a:rPr>
              <a:t>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474720"/>
            <a:ext cx="420624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Calibri"/>
              </a:rPr>
              <a:t>MRR for 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931920"/>
            <a:ext cx="420624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0" i="1">
                <a:solidFill>
                  <a:srgbClr val="1F1F1F"/>
                </a:solidFill>
                <a:latin typeface="Calibri"/>
              </a:rPr>
              <a:t>The correct document is always
ranked first — perfect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846320"/>
            <a:ext cx="4206240" cy="8229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0" i="1">
                <a:solidFill>
                  <a:srgbClr val="2E7D32"/>
                </a:solidFill>
                <a:latin typeface="Calibri"/>
              </a:rPr>
              <a:t>2.7× better MRR than
the Word2Vec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500" b="1" i="1">
                <a:solidFill>
                  <a:srgbClr val="1A3C6E"/>
                </a:solidFill>
                <a:latin typeface="Calibri"/>
              </a:rPr>
              <a:t>Contextual sentence embeddings dramatically outperform classical NLP baselines for financial domain retrieval.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Experiment 2: RAG vs No-RAG — Why Retrieval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  <a:latin typeface="Calibri"/>
              </a:rPr>
              <a:t>50 financial-qa-10K questions, three answer strategies. Which approach stays grounded?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749039" cy="438912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C62828"/>
                </a:solidFill>
                <a:latin typeface="Calibri"/>
              </a:rPr>
              <a:t>No-RAG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374903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200" b="0" i="1">
                <a:solidFill>
                  <a:srgbClr val="1F1F1F"/>
                </a:solidFill>
                <a:latin typeface="Calibri"/>
              </a:rPr>
              <a:t>LLM alone, no document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43200"/>
            <a:ext cx="2834639" cy="36576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718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Keyword Hit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C62828"/>
                </a:solidFill>
                <a:latin typeface="Calibri"/>
              </a:rPr>
              <a:t>0.008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C62828"/>
                </a:solidFill>
                <a:latin typeface="Calibri"/>
              </a:rPr>
              <a:t>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Hallucinations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C62828"/>
                </a:solidFill>
                <a:latin typeface="Calibri"/>
              </a:rPr>
              <a:t>0 / 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39" y="1463040"/>
            <a:ext cx="3749039" cy="438912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39" y="1691640"/>
            <a:ext cx="3749039" cy="5029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EF6C00"/>
                </a:solidFill>
                <a:latin typeface="Calibri"/>
              </a:rPr>
              <a:t>Random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2240280"/>
            <a:ext cx="374903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200" b="0" i="1">
                <a:solidFill>
                  <a:srgbClr val="1F1F1F"/>
                </a:solidFill>
                <a:latin typeface="Calibri"/>
              </a:rPr>
              <a:t>Irrelevant chunks fed 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39" y="2743200"/>
            <a:ext cx="2834639" cy="36576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59" y="29718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Keyword Hit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30175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EF6C00"/>
                </a:solidFill>
                <a:latin typeface="Calibri"/>
              </a:rPr>
              <a:t>0.133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36576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Faithfulness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59" y="37033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EF6C00"/>
                </a:solidFill>
                <a:latin typeface="Calibri"/>
              </a:rPr>
              <a:t>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43434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Hallucinations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3891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EF6C00"/>
                </a:solidFill>
                <a:latin typeface="Calibri"/>
              </a:rPr>
              <a:t>0 / 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8" y="1463040"/>
            <a:ext cx="3749039" cy="43891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8" y="1691640"/>
            <a:ext cx="3749039" cy="5029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200" b="1" i="0">
                <a:solidFill>
                  <a:srgbClr val="2E7D32"/>
                </a:solidFill>
                <a:latin typeface="Calibri"/>
              </a:rPr>
              <a:t>RAG (Proposed)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8" y="2240280"/>
            <a:ext cx="374903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200" b="0" i="1">
                <a:solidFill>
                  <a:srgbClr val="1F1F1F"/>
                </a:solidFill>
                <a:latin typeface="Calibri"/>
              </a:rPr>
              <a:t>Correctly retrieved chunks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69678" y="2743200"/>
            <a:ext cx="2834639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798" y="29718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Keyword Hit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798" y="30175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2E7D32"/>
                </a:solidFill>
                <a:latin typeface="Calibri"/>
              </a:rPr>
              <a:t>0.840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798" y="36576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Faithfulness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798" y="37033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2E7D32"/>
                </a:solidFill>
                <a:latin typeface="Calibri"/>
              </a:rPr>
              <a:t>1.000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798" y="4343400"/>
            <a:ext cx="3200399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Hallucinations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798" y="4389120"/>
            <a:ext cx="3200399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2000" b="1" i="0">
                <a:solidFill>
                  <a:srgbClr val="2E7D32"/>
                </a:solidFill>
                <a:latin typeface="Calibri"/>
              </a:rPr>
              <a:t>0 / 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500" b="1" i="1">
                <a:solidFill>
                  <a:srgbClr val="1A3C6E"/>
                </a:solidFill>
                <a:latin typeface="Calibri"/>
              </a:rPr>
              <a:t>RAG achieves 100% Keyword Hit Rate and ZERO hallucinations — while No-RAG hallucinated a fabricated R&amp;D percentage.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Conclusions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2000" b="1" i="0">
                <a:solidFill>
                  <a:srgbClr val="2E7D32"/>
                </a:solidFill>
                <a:latin typeface="Calibri"/>
              </a:rPr>
              <a:t>What We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Built a production-ready RAG pipeline for financial documents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Integrated 3 AI techniques: NLP, LLM, Prompt Engineering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Demonstrated Word2Vec, TF-IDF, and Sentence-Transformer baselines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Perfect retrieval (MRR = 1.000) on the test corpus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Zero hallucinations with the RAG architecture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Deployed as Streamlit web app + FastAPI REST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005840"/>
            <a:ext cx="512064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2000" b="1" i="0">
                <a:solidFill>
                  <a:srgbClr val="EF6C00"/>
                </a:solidFill>
                <a:latin typeface="Calibr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Hybrid retrieval (dense semantic + BM25 sparse)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FinBERT for domain-specific financial embeddings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Cross-document queries (compare multiple companies)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Cross-encoder re-ranking of top retrieved chunks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Conversation memory for follow-up questions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1A3C6E"/>
                </a:solidFill>
                <a:latin typeface="Calibri"/>
              </a:rPr>
              <a:t>•  </a:t>
            </a:r>
            <a:r>
              <a:rPr sz="1400">
                <a:solidFill>
                  <a:srgbClr val="1F1F1F"/>
                </a:solidFill>
                <a:latin typeface="Calibri"/>
              </a:rPr>
              <a:t>OCR support for scanned financial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47120" cy="594360"/>
          </a:xfrm>
          <a:prstGeom prst="roundRect">
            <a:avLst/>
          </a:prstGeom>
          <a:solidFill>
            <a:srgbClr val="1A3C6E"/>
          </a:solidFill>
          <a:ln w="9525">
            <a:solidFill>
              <a:srgbClr val="1A3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1" i="1">
                <a:solidFill>
                  <a:srgbClr val="FFFFFF"/>
                </a:solidFill>
                <a:latin typeface="Calibri"/>
              </a:rPr>
              <a:t>The system satisfies all EC7203 requirements: 3 AI techniques, full evaluation with baselines, working demo, and reproducible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EC7203 Advanced AI  •  Financial Document Q&amp;A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00400"/>
            <a:ext cx="2103120" cy="73152"/>
          </a:xfrm>
          <a:prstGeom prst="rect">
            <a:avLst/>
          </a:prstGeom>
          <a:solidFill>
            <a:srgbClr val="C8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64008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2800" b="0" i="1">
                <a:solidFill>
                  <a:srgbClr val="C8970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Deliverables Submitted: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Final Report (body under 20-page limit)   •   Working Web App   •   Source Code   •   This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EC7203 Advanced Artificial Intelligence  •  Final Group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tIns="50800" bIns="50800">
            <a:spAutoFit/>
          </a:bodyPr>
          <a:lstStyle/>
          <a:p>
            <a:pPr algn="ctr"/>
            <a:r>
              <a:rPr sz="1100" b="0" i="1">
                <a:solidFill>
                  <a:srgbClr val="C89700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